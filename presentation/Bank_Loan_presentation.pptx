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7" r:id="rId8"/>
    <p:sldId id="262" r:id="rId9"/>
    <p:sldId id="264" r:id="rId10"/>
    <p:sldId id="265" r:id="rId11"/>
    <p:sldId id="266" r:id="rId12"/>
    <p:sldId id="268" r:id="rId13"/>
    <p:sldId id="269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75A03-E81A-B7E3-288E-AF52CEBA8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56A49-E6E3-F1DE-FF6C-2982FDB52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F38AE-1F2D-4FA0-1265-5DCF5E16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EBD79-3B6F-E6FB-6C8F-FE030E258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C528D-C130-7809-DCB4-B237DCCD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9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FF005-BD95-20FF-89C2-5071B95D1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2EA4B-16CC-CC21-8C3E-A7DEE8986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5A936-492D-4754-F2E9-80BBCF81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8E824-60FD-A875-F350-6872F8B03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94C78-C4E7-4847-0094-E67391CC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70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4B822-C46B-30D4-A9A0-ED423598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9C2EB-5622-1A9B-3FA5-282D3C700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00F1D-691A-FEDD-8116-8D3CD590E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E03A5-3D80-5129-3338-C9EA03BD9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778EC-E5EF-E768-7784-3A475A26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74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010C-CBB7-67B4-E91D-4394444E8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2777D-2680-91E3-C7F5-0BCE4DDF2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4DD2B-7D97-FDCB-3ED4-62049146A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01C34-0F58-EB05-680B-4C607DE78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8E1B2-9970-1F8C-C73D-13F9863CC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B39DF-90B2-1F69-A0D1-2F7D8CBA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96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5F04-9EF4-2E91-2C4C-C7A5A5139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4FD27-A78D-36DE-B314-5C4FDC770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F18ED-7B76-9EBF-F915-E9E812A6A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18BE1A-3DE9-C6B3-632E-5068AF52BB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B02A0A-499F-FFEC-F042-6640084739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8412CB-5D48-C183-90A5-7C4714FCF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16BFD3-B7CB-7809-831C-52C6C983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F93B0B-79E7-A1D4-F21D-09D00E67C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92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8B461-F0D7-3DD4-A163-51D63696E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4D9847-B852-9044-5CD2-F387638A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CDFC8-26F7-7CC3-B3C7-6EF4DA7D7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C0C85D-17B5-A37C-1C86-BB0A113F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29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752612-2EA7-F9A9-1AA2-3A25F6840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C16B4-17B1-3B2D-B992-6778C0D4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ECA4D-29FF-B9B5-C01A-9EBF0D143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1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4D6CF-7CFC-3CF5-4B8D-08E3A84D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89B70-8EE9-AF84-ED40-716B43467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BD855-313C-BEA6-ACF1-FD5B4CF76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4F4E6-1DAA-83D0-6406-B2F5D35B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DDC4B-4C50-9D59-4267-4D2C3D18E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023AF-C68D-E9F6-A021-8CA5EE9D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25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0F4A-7E7F-ED1C-D3EC-027911FFA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39711D-65B7-31EC-F1CB-56308529F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5A99F4-0543-D607-D8DE-C1BD8B3C5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7AEA20-9502-5FBF-295B-F5CFCB83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82BBB-CDF4-E906-031B-D7911B6F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3F573-12CC-E1F4-7331-EE1C37E0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97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F6D4-D2F2-B4CF-57C9-667081FD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4876D-A141-73ED-1C8C-E33E90503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F770C-1BBA-3D0C-F636-7963A75A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974F0-3720-910A-D684-0B81EDF9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880D7-1F47-A5C5-C209-7621675CC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11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631D9C-2693-33EC-1EC2-E5A6BF9BB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34084-EC71-0FB5-8E0D-D8E14A764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69DB7-F31E-1CD5-B8DE-04C81E467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C9ECA-8CF0-9DA9-6C99-7616DA008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4A8B2-B1A5-6954-D3AB-33D39509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12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70E9A5-B9B5-120F-319C-B4AB25615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3FD7B-10D0-6E88-2F6D-361EE35BD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16103-7DF6-BED7-733F-B09627524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DB447-CF0D-4C0B-A987-E50BF758F8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AFF35-C243-BD1D-D053-FC0F878E1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B569A-727B-16BF-7174-D7B16C150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46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0AD9-6CDD-0E2C-D4B5-24F9AC19F8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Bank Loan Data Analysis using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5815D-1833-8DFB-9DAD-CB8616F3F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3871" y="3651199"/>
            <a:ext cx="6784258" cy="1655762"/>
          </a:xfrm>
        </p:spPr>
        <p:txBody>
          <a:bodyPr>
            <a:normAutofit/>
          </a:bodyPr>
          <a:lstStyle/>
          <a:p>
            <a:r>
              <a:rPr lang="en-US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Insights into Loan Performance, Risk, and Customer Behavior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21E097-01A4-3515-FEAE-AF44B4A60B0E}"/>
              </a:ext>
            </a:extLst>
          </p:cNvPr>
          <p:cNvSpPr txBox="1"/>
          <p:nvPr/>
        </p:nvSpPr>
        <p:spPr>
          <a:xfrm>
            <a:off x="9657385" y="6204857"/>
            <a:ext cx="2402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Analyst: 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Alok</a:t>
            </a:r>
            <a:r>
              <a:rPr lang="en-US" dirty="0"/>
              <a:t> 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Yadav</a:t>
            </a:r>
          </a:p>
        </p:txBody>
      </p:sp>
    </p:spTree>
    <p:extLst>
      <p:ext uri="{BB962C8B-B14F-4D97-AF65-F5344CB8AC3E}">
        <p14:creationId xmlns:p14="http://schemas.microsoft.com/office/powerpoint/2010/main" val="3305641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8DFAA2E-2614-6E79-88C3-14A3BC2E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902" y="98324"/>
            <a:ext cx="7765322" cy="963560"/>
          </a:xfrm>
        </p:spPr>
        <p:txBody>
          <a:bodyPr/>
          <a:lstStyle/>
          <a:p>
            <a:r>
              <a:rPr sz="32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Dataset</a:t>
            </a:r>
            <a:r>
              <a:rPr dirty="0">
                <a:solidFill>
                  <a:srgbClr val="00B0F0"/>
                </a:solidFill>
              </a:rPr>
              <a:t> </a:t>
            </a:r>
            <a:r>
              <a:rPr sz="32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02C13E-CBC4-2F7E-8986-181B3EBE4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902" y="1061885"/>
            <a:ext cx="11182188" cy="806244"/>
          </a:xfrm>
        </p:spPr>
        <p:txBody>
          <a:bodyPr>
            <a:normAutofit/>
          </a:bodyPr>
          <a:lstStyle/>
          <a:p>
            <a:r>
              <a:rPr lang="en-US" sz="2000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Dataset Name: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financial_loan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sz="2000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Source: 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Kaggle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9BE4F-64F5-8513-429E-B13CCDDA659D}"/>
              </a:ext>
            </a:extLst>
          </p:cNvPr>
          <p:cNvSpPr txBox="1">
            <a:spLocks/>
          </p:cNvSpPr>
          <p:nvPr/>
        </p:nvSpPr>
        <p:spPr>
          <a:xfrm>
            <a:off x="183902" y="2153265"/>
            <a:ext cx="7765322" cy="97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4188A8-7B81-0126-326A-5F3695AF4D3E}"/>
              </a:ext>
            </a:extLst>
          </p:cNvPr>
          <p:cNvSpPr txBox="1">
            <a:spLocks/>
          </p:cNvSpPr>
          <p:nvPr/>
        </p:nvSpPr>
        <p:spPr>
          <a:xfrm>
            <a:off x="183902" y="2943775"/>
            <a:ext cx="7765322" cy="1581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 BI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Excel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 &amp;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179738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0798F2-4C58-4360-E280-F667B164C033}"/>
              </a:ext>
            </a:extLst>
          </p:cNvPr>
          <p:cNvSpPr txBox="1"/>
          <p:nvPr/>
        </p:nvSpPr>
        <p:spPr>
          <a:xfrm>
            <a:off x="177282" y="905232"/>
            <a:ext cx="1051560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Business Requirements Document – Loan Performance KPIs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client requires a comprehensive analysis of loan performance data to support decision-making and monitor business health. The data analyst is expected to derive the following Key Performance Indicators (KPIs) and insights:</a:t>
            </a:r>
            <a:b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Loan Application Analysis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client wants to understand the volume and trend of loan applications over time. Specifically: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Calculate the total number of loan applications received within a selected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 Month-to-Date (MTD) loan application 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Analyse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report Month-over-Month (MoM) changes to identify growth or decline trends.</a:t>
            </a:r>
            <a:br>
              <a:rPr lang="en-US" sz="1700" dirty="0"/>
            </a:br>
            <a:endParaRPr lang="en-US" sz="1700" dirty="0"/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Funded Amount Analysis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client requires visibility into the total value of loans disbursed. The analysis should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Calculation of the total funded loan amount.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of MTD funded amounts.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Evaluation of MoM changes to monitor lending performance and growth.</a:t>
            </a:r>
            <a:b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BF8D80-1D70-3A62-2C61-303E736D8D51}"/>
              </a:ext>
            </a:extLst>
          </p:cNvPr>
          <p:cNvSpPr txBox="1"/>
          <p:nvPr/>
        </p:nvSpPr>
        <p:spPr>
          <a:xfrm>
            <a:off x="177282" y="198939"/>
            <a:ext cx="5918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Business Requirements</a:t>
            </a:r>
          </a:p>
        </p:txBody>
      </p:sp>
    </p:spTree>
    <p:extLst>
      <p:ext uri="{BB962C8B-B14F-4D97-AF65-F5344CB8AC3E}">
        <p14:creationId xmlns:p14="http://schemas.microsoft.com/office/powerpoint/2010/main" val="794784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D0EDB4-7B37-45DE-53AF-A71B28240E5F}"/>
              </a:ext>
            </a:extLst>
          </p:cNvPr>
          <p:cNvSpPr txBox="1"/>
          <p:nvPr/>
        </p:nvSpPr>
        <p:spPr>
          <a:xfrm>
            <a:off x="205273" y="326571"/>
            <a:ext cx="1031965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Loan Repayment / Amount Received Analysis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assess cash flow and repayment efficiency, the client wants: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Calculation of the total amount received from borrowers.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Monitoring of MTD collections.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Analysis of MoM variations to identify repayment trends and potential risks.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Interest Rate Analysis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client aims to evaluate the overall cost and pricing of loans. The analyst should: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 the average interest rate across all loans.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 MTD average interest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Analyse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MoM changes to understand fluctuations in lending rates.</a:t>
            </a:r>
          </a:p>
          <a:p>
            <a:endParaRPr lang="en-US" sz="1700" dirty="0"/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Borrower Financial Health (DTI Analysis)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assess borrower risk and financial stability, the client requires: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Calculation of the average Debt-to-Income (DTI) ratio.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of MTD average DTI.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Monitoring of MoM changes to detect shifts in borrower financial health.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518190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366F6B-D80C-197B-6533-E23BFC52903A}"/>
              </a:ext>
            </a:extLst>
          </p:cNvPr>
          <p:cNvSpPr txBox="1"/>
          <p:nvPr/>
        </p:nvSpPr>
        <p:spPr>
          <a:xfrm>
            <a:off x="198720" y="398614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797182-B2E4-912C-299C-9350A251A72E}"/>
              </a:ext>
            </a:extLst>
          </p:cNvPr>
          <p:cNvSpPr txBox="1"/>
          <p:nvPr/>
        </p:nvSpPr>
        <p:spPr>
          <a:xfrm>
            <a:off x="6046839" y="983389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02CB4-F3C4-D665-FEEA-33C0D5CB67B1}"/>
              </a:ext>
            </a:extLst>
          </p:cNvPr>
          <p:cNvSpPr txBox="1"/>
          <p:nvPr/>
        </p:nvSpPr>
        <p:spPr>
          <a:xfrm>
            <a:off x="198720" y="3144417"/>
            <a:ext cx="88706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(Definition)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loan that is being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repaid on time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without any significant delay or default.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= Fully Paid / Current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missed EMI payments 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0276DE-46E5-24AA-71CD-A44F9F468473}"/>
              </a:ext>
            </a:extLst>
          </p:cNvPr>
          <p:cNvSpPr txBox="1"/>
          <p:nvPr/>
        </p:nvSpPr>
        <p:spPr>
          <a:xfrm>
            <a:off x="198719" y="4621745"/>
            <a:ext cx="864089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(Definition)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bad loan is a loan where the borrower is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unable to repay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 has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defaulted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payments.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= Charged Off / Default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Missed payments (90+ days overdue)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887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5D458C-60F8-F4D8-05CA-FCB592E0C75B}"/>
              </a:ext>
            </a:extLst>
          </p:cNvPr>
          <p:cNvSpPr txBox="1"/>
          <p:nvPr/>
        </p:nvSpPr>
        <p:spPr>
          <a:xfrm>
            <a:off x="219269" y="278752"/>
            <a:ext cx="11420475" cy="588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 Requirements</a:t>
            </a:r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</a:p>
          <a:p>
            <a:pPr>
              <a:lnSpc>
                <a:spcPct val="150000"/>
              </a:lnSpc>
            </a:pPr>
            <a:r>
              <a:rPr lang="en-IN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>
              <a:lnSpc>
                <a:spcPct val="150000"/>
              </a:lnSpc>
            </a:pPr>
            <a:endParaRPr lang="en-IN" b="1" i="1" u="sng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22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6F0EF-FDAB-EFFB-CA75-21C5F247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3B85C97-A1B5-80FC-E866-45E5FDE6D8C1}"/>
              </a:ext>
            </a:extLst>
          </p:cNvPr>
          <p:cNvSpPr txBox="1">
            <a:spLocks/>
          </p:cNvSpPr>
          <p:nvPr/>
        </p:nvSpPr>
        <p:spPr>
          <a:xfrm>
            <a:off x="3264309" y="2815226"/>
            <a:ext cx="5781368" cy="122754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Overview</a:t>
            </a:r>
          </a:p>
        </p:txBody>
      </p:sp>
    </p:spTree>
    <p:extLst>
      <p:ext uri="{BB962C8B-B14F-4D97-AF65-F5344CB8AC3E}">
        <p14:creationId xmlns:p14="http://schemas.microsoft.com/office/powerpoint/2010/main" val="706216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C607C9-1600-E0DF-5D83-504E8D880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72" y="0"/>
            <a:ext cx="113336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355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AF20A-038A-BE22-23AB-3143D5995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D8FC83-5613-54F1-A2F8-2C0E668E6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04" y="0"/>
            <a:ext cx="11309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503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070B7-163B-D276-4634-AE0754B9E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7E3E69-695A-9802-A506-5F4DB7669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80" y="0"/>
            <a:ext cx="11365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28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50FA5-126A-2963-5014-795A4B92E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F4F594-BBBC-5E3E-EB6D-2A2D5C0CF0B8}"/>
              </a:ext>
            </a:extLst>
          </p:cNvPr>
          <p:cNvSpPr txBox="1"/>
          <p:nvPr/>
        </p:nvSpPr>
        <p:spPr>
          <a:xfrm>
            <a:off x="226141" y="174172"/>
            <a:ext cx="7546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Insights on Bad Loans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18273-4D38-F3B1-4600-61D97540EC3E}"/>
              </a:ext>
            </a:extLst>
          </p:cNvPr>
          <p:cNvSpPr txBox="1"/>
          <p:nvPr/>
        </p:nvSpPr>
        <p:spPr>
          <a:xfrm>
            <a:off x="226141" y="889575"/>
            <a:ext cx="1023347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Loan Purpose Risk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Small Business loans contribute the highest share of bad loans (~25%), followed by: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Renewable Energy loans (~18%)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Educational loans (~15%) 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indicates that business-related and long-term return investments carry higher default risk.</a:t>
            </a:r>
            <a:b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Geographic Risk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States with the highest bad loan percentages: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 (60%)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NV (20%)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 (19%) 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suggests regional economic or demographic factors significantly impact loan repayment behavior.</a:t>
            </a:r>
            <a:b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Home Ownership Risk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Around 15% of bad loans come from borrowers who: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Took home loans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have home ownership status = RENT 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reflects financial instability or lack of asset backing.</a:t>
            </a:r>
            <a:b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Loan Term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Loans with 60-month tenure have 22% bad loan rate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Loans with 36-month tenure have only 10% bad loan rate 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Longer repayment periods are associated with higher default probability.</a:t>
            </a:r>
          </a:p>
          <a:p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544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480419-DA87-1CB4-0CF2-4B92E083D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667318-702A-3AD3-31F9-D51A717988AD}"/>
              </a:ext>
            </a:extLst>
          </p:cNvPr>
          <p:cNvSpPr txBox="1"/>
          <p:nvPr/>
        </p:nvSpPr>
        <p:spPr>
          <a:xfrm>
            <a:off x="226141" y="174172"/>
            <a:ext cx="7546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Business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28B3F-0732-F083-CAA3-A4CA9AC4DB77}"/>
              </a:ext>
            </a:extLst>
          </p:cNvPr>
          <p:cNvSpPr txBox="1"/>
          <p:nvPr/>
        </p:nvSpPr>
        <p:spPr>
          <a:xfrm>
            <a:off x="226141" y="1014633"/>
            <a:ext cx="515762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Strengthen Risk Assessment for High-Risk Loan Purposes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Apply stricter credit checks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Small business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Renewable energy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Education loans 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Higher interest rates (risk-based pricing)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Lower loan limits </a:t>
            </a:r>
          </a:p>
          <a:p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Region-Based Lending Strategy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high-risk states (NE, NV, AK):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Tighten approval criteria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Require additional verification or collateral </a:t>
            </a:r>
          </a:p>
          <a:p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Focus on Borrower Stability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renters taking home loans: 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Evaluate income stability &amp; savings behavior 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Higher down payment requirement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Co-applicant or guarantor </a:t>
            </a:r>
            <a:b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AC0FCE-29B5-1F81-C7DC-DC8873FFD51E}"/>
              </a:ext>
            </a:extLst>
          </p:cNvPr>
          <p:cNvSpPr txBox="1"/>
          <p:nvPr/>
        </p:nvSpPr>
        <p:spPr>
          <a:xfrm>
            <a:off x="6494107" y="1014633"/>
            <a:ext cx="51576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Optimize Loan Tenure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Encourage shorter loan terms (36 months) 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long-term loans: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Increase monitoring (early warning systems)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Offer incentives for early repayment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78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AC0533-923F-DDCB-F5F9-ED81C7BCF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23BF93-2473-AA81-915F-D45920F14CE1}"/>
              </a:ext>
            </a:extLst>
          </p:cNvPr>
          <p:cNvSpPr txBox="1">
            <a:spLocks/>
          </p:cNvSpPr>
          <p:nvPr/>
        </p:nvSpPr>
        <p:spPr>
          <a:xfrm>
            <a:off x="4369837" y="2904510"/>
            <a:ext cx="3010678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205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804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912</Words>
  <Application>Microsoft Office PowerPoint</Application>
  <PresentationFormat>Widescreen</PresentationFormat>
  <Paragraphs>117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Bank Loan Data Analysis using Power BI</vt:lpstr>
      <vt:lpstr>Dataset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Yadav</dc:creator>
  <cp:lastModifiedBy>Alok Yadav</cp:lastModifiedBy>
  <cp:revision>18</cp:revision>
  <dcterms:created xsi:type="dcterms:W3CDTF">2026-03-31T16:43:34Z</dcterms:created>
  <dcterms:modified xsi:type="dcterms:W3CDTF">2026-04-01T16:47:06Z</dcterms:modified>
</cp:coreProperties>
</file>